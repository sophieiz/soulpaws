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Work Sans" pitchFamily="2" charset="0"/>
      <p:regular r:id="rId22"/>
      <p:bold r:id="rId23"/>
      <p:italic r:id="rId24"/>
      <p:boldItalic r:id="rId25"/>
    </p:embeddedFont>
    <p:embeddedFont>
      <p:font typeface="Work Sans SemiBold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23" autoAdjust="0"/>
  </p:normalViewPr>
  <p:slideViewPr>
    <p:cSldViewPr snapToGrid="0">
      <p:cViewPr varScale="1">
        <p:scale>
          <a:sx n="66" d="100"/>
          <a:sy n="66" d="100"/>
        </p:scale>
        <p:origin x="1301" y="58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0e628cec1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3f0e628cec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0e628cec1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CO" sz="1200" b="1" dirty="0" err="1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Visdualizar</a:t>
            </a: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inventario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20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Control automático del stock disponible</a:t>
            </a:r>
            <a:endParaRPr lang="es-CO" sz="1200" b="1" dirty="0">
              <a:solidFill>
                <a:srgbClr val="0030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7" name="Google Shape;247;g3f0e628cec1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3914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0e628cec1_0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3f0e628cec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0e628cec1_0_2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f0e628cec1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0e628cec1_0_4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g3f0e628cec1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0e628cec1_0_5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g3f0e628cec1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0e628cec1_0_5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9" name="Google Shape;449;g3f0e628cec1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0e628cec1_0_7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5" name="Google Shape;455;g3f0e628cec1_0_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0e628cec1_0_7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g3f0e628cec1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0e628cec1_0_7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g3f0e628cec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2" name="Google Shape;5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32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1012157" y="-117990"/>
            <a:ext cx="9041383" cy="336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9960"/>
              </a:lnSpc>
              <a:spcBef>
                <a:spcPts val="1694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3600" b="1" dirty="0" err="1">
                <a:solidFill>
                  <a:srgbClr val="404040"/>
                </a:solidFill>
              </a:rPr>
              <a:t>SoulPaws</a:t>
            </a:r>
            <a:r>
              <a:rPr lang="es-CO" sz="3600" b="1" dirty="0">
                <a:solidFill>
                  <a:srgbClr val="404040"/>
                </a:solidFill>
              </a:rPr>
              <a:t/>
            </a:r>
            <a:r>
              <a:rPr lang="es-CO" sz="3600" b="1" dirty="0" err="1">
                <a:solidFill>
                  <a:srgbClr val="404040"/>
                </a:solidFill>
              </a:rPr>
              <a:t/>
            </a:r>
            <a:r>
              <a:rPr lang="es-CO" sz="3600" b="1" dirty="0">
                <a:solidFill>
                  <a:srgbClr val="404040"/>
                </a:solidFill>
              </a:rPr>
              <a:t/>
            </a:r>
            <a:br>
              <a:rPr lang="es-CO" sz="3600" b="1" dirty="0">
                <a:solidFill>
                  <a:srgbClr val="404040"/>
                </a:solidFill>
              </a:rPr>
            </a:br>
            <a:r>
              <a:rPr lang="es-CO" sz="3600" b="1" dirty="0">
                <a:solidFill>
                  <a:srgbClr val="404040"/>
                </a:solidFill>
              </a:rPr>
              <a:t>Adopción</a:t>
            </a:r>
            <a:r>
              <a:rPr lang="es-CO" sz="3600" b="1" dirty="0" err="1">
                <a:solidFill>
                  <a:srgbClr val="404040"/>
                </a:solidFill>
              </a:rPr>
              <a:t/>
            </a:r>
            <a:r>
              <a:rPr lang="es-CO" sz="3600" b="1" i="0" u="none" strike="noStrike" cap="non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y conexión</a:t>
            </a:r>
            <a:r>
              <a:rPr lang="es-CO" sz="3600" b="1" dirty="0">
                <a:solidFill>
                  <a:srgbClr val="404040"/>
                </a:solidFill>
              </a:rPr>
              <a:t> animal</a:t>
            </a:r>
            <a:endParaRPr sz="54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O" sz="1000" b="1" i="0" u="none" strike="noStrike" cap="non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sz="1000" b="1" i="0" u="none" strike="noStrike" cap="non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82000" y="3789375"/>
            <a:ext cx="4582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200">
                <a:solidFill>
                  <a:schemeClr val="accent5"/>
                </a:solidFill>
              </a:rPr>
              <a:t>Izabel Sofia Ortega Obando - Desarrolladora del proyecto</a:t>
            </a:r>
            <a:r>
              <a:rPr lang="es-CO"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541015" y="786381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¿Qué es SoulPaws?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41015" y="1728213"/>
            <a:ext cx="59436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50"/>
              <a:buFont typeface="Calibri"/>
              <a:buNone/>
            </a:pPr>
            <a:r>
              <a:rPr lang="es-CO" sz="14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Plataforma web para gestionar la adopción responsable y las reservas de actividades con perritos y gatitos rescatados, facilitando el trabajo de las fundaciones de rescate.</a:t>
            </a:r>
            <a:endParaRPr sz="14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41015" y="2825493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El sistema permite: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41015" y="3236973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16" descr="icons/windo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358" y="3327316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1043935" y="3209541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Visualizar el catálogo de perritos y gatitos disponibles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41015" y="3749037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16" descr="icons/filt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358" y="3839380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1043935" y="3721605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Buscar y filtrar por especie y raza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41015" y="4285485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16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358" y="4375828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/>
          <p:nvPr/>
        </p:nvSpPr>
        <p:spPr>
          <a:xfrm>
            <a:off x="1043935" y="4258053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Reservar actividades y solicitar adopción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896095" y="1728213"/>
            <a:ext cx="4755000" cy="4617600"/>
          </a:xfrm>
          <a:prstGeom prst="roundRect">
            <a:avLst>
              <a:gd name="adj" fmla="val 1584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7216135" y="1956813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STACK PRINCIPAL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7216135" y="2414013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6" descr="icons/cod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46894" y="2544772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7901935" y="241401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7901935" y="2679189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JSP + HTML/CSS/JS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216135" y="3200396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16" descr="icons/server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46894" y="333115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7901935" y="320039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901935" y="346557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Java Servlets (Jakarta EE)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7216135" y="3986781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16" descr="icons/databas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46894" y="4117540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7901935" y="398678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7901935" y="4251957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MySQL (Aiven)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7216135" y="4773165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6" descr="icons/clou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46894" y="4903924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7901935" y="477316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 externos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7901935" y="503834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Cloudinary · Brevo · Render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Agenda de la sustentación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48640" y="1691640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1323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5" descr="icons/bullsey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36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137160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Resumen y objetivos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37160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Qué es SoulPaws y qué buscamos lograr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012180" y="1691640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17677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5" descr="icons/warni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990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683514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Problema y justificación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83514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Por qué era necesario este proyecto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48640" y="2734056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1323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15" descr="icons/rou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636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137160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Alcance y metodología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37160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Qué incluye el sistema y cómo lo construimos (Scrum)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012180" y="2734056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17677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15" descr="icons/clipboar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990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683514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Requerimientos (IEEE 830)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83514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Funcionalidades esenciales del sistema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48640" y="3776472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1323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15" descr="icons/layer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36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/>
          <p:nvPr/>
        </p:nvSpPr>
        <p:spPr>
          <a:xfrm>
            <a:off x="137160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Arquitectura y stack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137160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JSP, Servlets, MySQL y despliegue en Render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12180" y="3776472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17677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15" descr="icons/window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0990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683514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Interfaz y demo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83514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Recorrido por las pantallas del sistema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48640" y="4818888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13232" y="4983480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15" descr="icons/flask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6369" y="511661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1371600" y="4928616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Pruebas y conclusiones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371600" y="5239512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Cómo validamos la calidad del software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54101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41015" y="1645920"/>
            <a:ext cx="5120700" cy="4480500"/>
          </a:xfrm>
          <a:prstGeom prst="roundRect">
            <a:avLst>
              <a:gd name="adj" fmla="val 1633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861055" y="187452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manual e informal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61055" y="2331720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240779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1290823" y="229514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Muchas fundaciones de rescate gestionan la adopción de perritos y gatitos por WhatsApp o de forma manual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61055" y="2866644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2942722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/>
          <p:nvPr/>
        </p:nvSpPr>
        <p:spPr>
          <a:xfrm>
            <a:off x="1290823" y="2830068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Desorganización de la información y pérdida de datos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861055" y="3401568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3477646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/>
          <p:nvPr/>
        </p:nvSpPr>
        <p:spPr>
          <a:xfrm>
            <a:off x="1290823" y="3364992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Dificultad para controlar el catálogo de animales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861055" y="3936492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4012570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/>
          <p:nvPr/>
        </p:nvSpPr>
        <p:spPr>
          <a:xfrm>
            <a:off x="1290823" y="3899916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Falta de historial de adopciones y reservas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861055" y="4471416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4547494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/>
          <p:nvPr/>
        </p:nvSpPr>
        <p:spPr>
          <a:xfrm>
            <a:off x="1290823" y="4434840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Ausencia de un canal digital de adopción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861055" y="5006340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508241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/>
          <p:nvPr/>
        </p:nvSpPr>
        <p:spPr>
          <a:xfrm>
            <a:off x="1290823" y="496976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Baja presencia digital de las fundaciones de rescate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935975" y="1645920"/>
            <a:ext cx="5715000" cy="4480500"/>
          </a:xfrm>
          <a:prstGeom prst="roundRect">
            <a:avLst>
              <a:gd name="adj" fmla="val 1633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6256015" y="1920240"/>
            <a:ext cx="548700" cy="5487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17" descr="icons/lea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8661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/>
          <p:nvPr/>
        </p:nvSpPr>
        <p:spPr>
          <a:xfrm>
            <a:off x="6941815" y="1993392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Problema de bienestar animal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256015" y="2606040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El abandono y la sobrepoblación de perritos y gatitos en situación de calle generan altos niveles de maltrato y mortalidad animal.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6256015" y="3611880"/>
            <a:ext cx="5120700" cy="2331600"/>
          </a:xfrm>
          <a:prstGeom prst="roundRect">
            <a:avLst>
              <a:gd name="adj" fmla="val 3137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6530335" y="379476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6530335" y="4114800"/>
            <a:ext cx="46176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SoulPaws centraliza estos procesos en una plataforma web moderna, facilitando la adopción responsable y la interacción segura con animales rescatados.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¿POR QUÉ ESTE PROYECTO?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SoulPaws se justifica por la necesidad de modernizar la gestión de fundaciones de rescate animal y ofrecer una experiencia digital de adopción responsable y segura.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48640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2011680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18" descr="icons/cog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9081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685800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Modernizar la gestión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85800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Organizar catálogo, actividades y reservas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334256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797296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18" descr="icons/chec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4697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/>
          <p:nvPr/>
        </p:nvSpPr>
        <p:spPr>
          <a:xfrm>
            <a:off x="4471416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Reducir errores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471416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Menos fallos por procesos manuales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8119872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9582912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7" name="Google Shape;227;p18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30313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8257032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Adopción digital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8257032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Acceso desde cualquier dispositivo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48640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2011680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18" descr="icons/leaf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9081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/>
          <p:nvPr/>
        </p:nvSpPr>
        <p:spPr>
          <a:xfrm>
            <a:off x="685800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Bienestar animal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685800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Fomenta la adopción responsable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4334256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5797296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18" descr="icons/chart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4697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/>
          <p:nvPr/>
        </p:nvSpPr>
        <p:spPr>
          <a:xfrm>
            <a:off x="4471416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Mejor administración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471416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Mayor control e incremento de adopciones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8119872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9582912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18" descr="icons/shiel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0313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/>
          <p:nvPr/>
        </p:nvSpPr>
        <p:spPr>
          <a:xfrm>
            <a:off x="8257032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Confianza del adoptante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8257032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Información clara y transparente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METAS DEL PROYECTO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48640" y="1645920"/>
            <a:ext cx="10607100" cy="1051500"/>
          </a:xfrm>
          <a:prstGeom prst="roundRect">
            <a:avLst>
              <a:gd name="adj" fmla="val 6957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868680" y="187452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19" descr="icons/bullsey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14" y="2029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/>
          <p:nvPr/>
        </p:nvSpPr>
        <p:spPr>
          <a:xfrm>
            <a:off x="1645920" y="176479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6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645920" y="1970975"/>
            <a:ext cx="92355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s-CO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que permita gestionar la adopción y la interacción con perritos y gatitos rescatados, promoviendo el bienestar animal y la tenencia responsable</a:t>
            </a:r>
            <a:r>
              <a:rPr lang="es-CO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con el fin de facilitar el trabajo de las fundaciones de rescate y reducir el </a:t>
            </a:r>
            <a:r>
              <a:rPr lang="es-CO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abandono</a:t>
            </a:r>
            <a:r>
              <a:rPr lang="es-CO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animal</a:t>
            </a:r>
            <a:endParaRPr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548640" y="292608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548640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1300277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19" descr="icons/clipboar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9149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/>
          <p:nvPr/>
        </p:nvSpPr>
        <p:spPr>
          <a:xfrm>
            <a:off x="640080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Promover bienestar animal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58368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n-US" sz="105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Adopción responsable</a:t>
            </a:r>
            <a:r>
              <a:rPr lang="es-CO" sz="1050" dirty="0">
                <a:latin typeface="Calibri"/>
                <a:ea typeface="Calibri"/>
                <a:cs typeface="Calibri"/>
                <a:sym typeface="Calibri"/>
              </a:rPr>
              <a:t> y reducción del abandono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2710282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19"/>
          <p:cNvSpPr/>
          <p:nvPr/>
        </p:nvSpPr>
        <p:spPr>
          <a:xfrm>
            <a:off x="3461918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" name="Google Shape;264;p19" descr="icons/boxe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079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/>
          <p:nvPr/>
        </p:nvSpPr>
        <p:spPr>
          <a:xfrm>
            <a:off x="2801722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Facilitar reservas en línea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2820010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ES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Reserva de actividades y solicitudes de adopción</a:t>
            </a:r>
          </a:p>
        </p:txBody>
      </p:sp>
      <p:sp>
        <p:nvSpPr>
          <p:cNvPr id="267" name="Google Shape;267;p19"/>
          <p:cNvSpPr/>
          <p:nvPr/>
        </p:nvSpPr>
        <p:spPr>
          <a:xfrm>
            <a:off x="4871923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19"/>
          <p:cNvSpPr/>
          <p:nvPr/>
        </p:nvSpPr>
        <p:spPr>
          <a:xfrm>
            <a:off x="5623560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19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42432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9"/>
          <p:cNvSpPr/>
          <p:nvPr/>
        </p:nvSpPr>
        <p:spPr>
          <a:xfrm>
            <a:off x="4963363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Gestionar el catálogo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4981651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ES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Registrar, modificar y eliminar perritos y gatitos</a:t>
            </a:r>
          </a:p>
        </p:txBody>
      </p:sp>
      <p:sp>
        <p:nvSpPr>
          <p:cNvPr id="272" name="Google Shape;272;p19"/>
          <p:cNvSpPr/>
          <p:nvPr/>
        </p:nvSpPr>
        <p:spPr>
          <a:xfrm>
            <a:off x="7033565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785202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19" descr="icons/mobil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4074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/>
          <p:nvPr/>
        </p:nvSpPr>
        <p:spPr>
          <a:xfrm>
            <a:off x="7125005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Mejorar la experiencia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7143293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Interfaz intuitiva y adaptable</a:t>
            </a:r>
            <a:endParaRPr sz="1050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9195206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19"/>
          <p:cNvSpPr/>
          <p:nvPr/>
        </p:nvSpPr>
        <p:spPr>
          <a:xfrm>
            <a:off x="9946843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9" name="Google Shape;279;p19" descr="icons/leaf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65715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9"/>
          <p:cNvSpPr/>
          <p:nvPr/>
        </p:nvSpPr>
        <p:spPr>
          <a:xfrm>
            <a:off x="9286646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Visualizar disponibilidad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9304934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endParaRPr lang="es-ES" sz="1050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76;p19">
            <a:extLst>
              <a:ext uri="{FF2B5EF4-FFF2-40B4-BE49-F238E27FC236}">
                <a16:creationId xmlns:a16="http://schemas.microsoft.com/office/drawing/2014/main" id="{DBF1810A-0CBD-EF8D-D393-9829AEE3BEA6}"/>
              </a:ext>
            </a:extLst>
          </p:cNvPr>
          <p:cNvSpPr/>
          <p:nvPr/>
        </p:nvSpPr>
        <p:spPr>
          <a:xfrm>
            <a:off x="9314090" y="461754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Control automático de horarios y disponibilidad</a:t>
            </a:r>
            <a:endParaRPr lang="es-CO" sz="1050" b="1" dirty="0">
              <a:solidFill>
                <a:srgbClr val="003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586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DELIMITACIÓN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548640" y="1645920"/>
            <a:ext cx="338340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86868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" name="Google Shape;290;p20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32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/>
          <p:nvPr/>
        </p:nvSpPr>
        <p:spPr>
          <a:xfrm>
            <a:off x="1554480" y="1993392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86868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86868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Ver catálogo y buscar perritos y gatitos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86868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Filtrar por especie y raza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86868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Reservar actividades y solicitar adopción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86868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estado de solicitudes y reservas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160520" y="1645920"/>
            <a:ext cx="338340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448056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20" descr="icons/cog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2320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5166360" y="1993392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448056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Gestionar el catálogo de animales (CRUD)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448056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Administrar actividades y disponibilidad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448056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Gestionar usuarios y roles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448056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Gestionar solicitudes y programar entrevistas de adopción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448056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Registrar el pago de reservas y adopciones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7772400" y="1645920"/>
            <a:ext cx="3931800" cy="4480500"/>
          </a:xfrm>
          <a:prstGeom prst="roundRect">
            <a:avLst>
              <a:gd name="adj" fmla="val 186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8092440" y="1920240"/>
            <a:ext cx="548700" cy="5487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8" name="Google Shape;308;p20" descr="icons/clou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3508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/>
          <p:nvPr/>
        </p:nvSpPr>
        <p:spPr>
          <a:xfrm>
            <a:off x="8778240" y="1993392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tecnológico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8092440" y="2606040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Plataforma web adaptable (responsive)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8092440" y="3227832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Arquitectura cliente–servidor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8092440" y="3849624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Base de datos relacional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8092440" y="4471416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Integración con servicios en la nube (Cloudinary, Brevo, Render)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8092440" y="5093208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Enfoque en una sola fundación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CÓMO TRABAJAMOS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Metodología ágil: Scrum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350"/>
              <a:buFont typeface="Calibri"/>
              <a:buNone/>
            </a:pPr>
            <a:r>
              <a:rPr lang="es-CO" sz="13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El proyecto se desarrolló bajo un ciclo de vida iterativo e incremental (Scrum), permitiendo incorporar mejoras y nuevas funcionalidades de forma progresiva desde mayo de 2025.</a:t>
            </a: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548640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713232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4" name="Google Shape;324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878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/>
          <p:nvPr/>
        </p:nvSpPr>
        <p:spPr>
          <a:xfrm>
            <a:off x="1417320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Izabel Sofia Ortega Obando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1417320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713232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lang="es-CO" sz="98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Define y prioriza el backlog</a:t>
            </a:r>
            <a:endParaRPr sz="98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4133088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4297680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0326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/>
          <p:nvPr/>
        </p:nvSpPr>
        <p:spPr>
          <a:xfrm>
            <a:off x="5001768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Izabel Sofia Ortega Obando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001768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4297680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lang="es-CO" sz="98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Facilita el proceso ágil del equipo</a:t>
            </a:r>
            <a:endParaRPr sz="98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7717536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7882128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6" name="Google Shape;336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774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/>
          <p:nvPr/>
        </p:nvSpPr>
        <p:spPr>
          <a:xfrm>
            <a:off x="8586216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Izabel Sofia Ortega Obando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8586216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Development Leader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7882128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lang="es-CO" sz="98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Lidera la construcción técnica</a:t>
            </a:r>
            <a:endParaRPr sz="98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48640" y="39776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Fases del proyecto (desde mayo 2025)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54864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5486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216408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234696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234696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396240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414528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414528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576072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594360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594360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755904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774192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774192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935736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954024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95402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548640" y="5349240"/>
            <a:ext cx="10607100" cy="777300"/>
          </a:xfrm>
          <a:prstGeom prst="roundRect">
            <a:avLst>
              <a:gd name="adj" fmla="val 9412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822960" y="5349240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Control de versiones:  </a:t>
            </a: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Git + GitHub Desktop, con sincronización a la nube y despliegue continuo hacia Render.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/>
          <p:nvPr/>
        </p:nvSpPr>
        <p:spPr>
          <a:xfrm>
            <a:off x="550165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ESPECIFICACIÓN DE REQUISITOS · IEEE 830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55016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Funcionalidades esenciales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550165" y="1572768"/>
            <a:ext cx="106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300"/>
              <a:buFont typeface="Calibri"/>
              <a:buNone/>
            </a:pPr>
            <a:r>
              <a:rPr lang="es-CO" sz="1300" b="0" i="1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Los requisitos se documentaron bajo la norma IEEE 830, garantizando que cada funcionalidad fuera clara, completa y verificable.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5016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71475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9" name="Google Shape;369;p22" descr="icons/search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62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/>
          <p:nvPr/>
        </p:nvSpPr>
        <p:spPr>
          <a:xfrm>
            <a:off x="128168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RF-01–05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71475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Autenticación y cuenta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71475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Registro, inicio y cierre de sesión, recuperación de contraseña y edición del perfil.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432968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449427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22" descr="icons/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314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/>
          <p:nvPr/>
        </p:nvSpPr>
        <p:spPr>
          <a:xfrm>
            <a:off x="506120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RF-06–08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449427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Catálogo de animales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449427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Consultar, buscar y filtrar el catálogo por especie y raza, y ver la ficha detallada de cada animal.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810920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827379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" name="Google Shape;381;p22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9266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/>
          <p:nvPr/>
        </p:nvSpPr>
        <p:spPr>
          <a:xfrm>
            <a:off x="884072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RF-09–12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827379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Actividades y reservas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827379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Consultar actividades y horarios disponibles, y reservar un cupo en una actividad de interacción.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5016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71475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7" name="Google Shape;387;p22" descr="icons/tags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362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2"/>
          <p:cNvSpPr/>
          <p:nvPr/>
        </p:nvSpPr>
        <p:spPr>
          <a:xfrm>
            <a:off x="128168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RF-13–16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71475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Solicitudes de adopción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71475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Solicitar la adopción de un animal, programar la entrevista y hacer seguimiento a su estado.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432968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449427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3" name="Google Shape;393;p22" descr="icons/cog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14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2"/>
          <p:cNvSpPr/>
          <p:nvPr/>
        </p:nvSpPr>
        <p:spPr>
          <a:xfrm>
            <a:off x="506120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RF-17–24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449427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administrativa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449427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CRUD de catálogo y actividades, precios, usuarios, solicitudes, reservas, pagos y papelera.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10920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/>
          <p:nvPr/>
        </p:nvSpPr>
        <p:spPr>
          <a:xfrm>
            <a:off x="827379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9" name="Google Shape;399;p22" descr="icons/bell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266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/>
          <p:nvPr/>
        </p:nvSpPr>
        <p:spPr>
          <a:xfrm>
            <a:off x="884072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No funcional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827379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Calidad del sistema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827379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Usabilidad, disponibilidad en la nube, seguridad por roles, rendimiento y escalabilidad.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Arquitectura y stack tecnológico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548640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1975104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23" descr="icons/cod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3412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3"/>
          <p:cNvSpPr/>
          <p:nvPr/>
        </p:nvSpPr>
        <p:spPr>
          <a:xfrm>
            <a:off x="685800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685800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JSP + HTML/CSS/JS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731520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Vistas renderizadas en servidor (JSP), consumidas en el navegador del cliente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4133088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5559552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6" name="Google Shape;416;p23" descr="icons/serv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7860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3"/>
          <p:cNvSpPr/>
          <p:nvPr/>
        </p:nvSpPr>
        <p:spPr>
          <a:xfrm>
            <a:off x="4270248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4270248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 Servlets (Jakarta EE)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4315968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Patrón MVC: Modelo, Controlador (DAOs) y Servlets — auth, catálogo, reservas, solicitudes, entrevistas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7717536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9144000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23" descr="icons/databas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2308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3"/>
          <p:cNvSpPr/>
          <p:nvPr/>
        </p:nvSpPr>
        <p:spPr>
          <a:xfrm>
            <a:off x="7854696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7854696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(Aiven)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7900416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Acceso vía JDBC (consultas parametrizadas)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548640" y="416052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Servicios externos integrados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54864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156019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9" name="Google Shape;429;p23" descr="icons/clou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7906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3"/>
          <p:cNvSpPr/>
          <p:nvPr/>
        </p:nvSpPr>
        <p:spPr>
          <a:xfrm>
            <a:off x="64008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Cloudinary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64008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Fotos de perritos y gatitos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4612005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5623560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9" name="Google Shape;439;p23" descr="icons/envelop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42432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3"/>
          <p:cNvSpPr/>
          <p:nvPr/>
        </p:nvSpPr>
        <p:spPr>
          <a:xfrm>
            <a:off x="4703445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Brevo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4703445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Correo transaccional (solicitudes, reservas, entrevistas, recuperar clave)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867537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968692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4" name="Google Shape;444;p23" descr="icons/sync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0579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/>
          <p:nvPr/>
        </p:nvSpPr>
        <p:spPr>
          <a:xfrm>
            <a:off x="876681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876681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Hosting y despliegue en la nube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"/>
          <p:cNvSpPr/>
          <p:nvPr/>
        </p:nvSpPr>
        <p:spPr>
          <a:xfrm>
            <a:off x="88253" y="74266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Modelo Logico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52" name="Google Shape;452;p24"/>
          <p:cNvPicPr preferRelativeResize="0"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2560173" y="742350"/>
            <a:ext cx="7071654" cy="6115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/>
          <p:cNvSpPr/>
          <p:nvPr/>
        </p:nvSpPr>
        <p:spPr>
          <a:xfrm>
            <a:off x="215740" y="167266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Casos de Uso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58" name="Google Shape;45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9338" y="1037850"/>
            <a:ext cx="3133324" cy="58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Pruebas de software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548640" y="1645920"/>
            <a:ext cx="5120700" cy="4480500"/>
          </a:xfrm>
          <a:prstGeom prst="roundRect">
            <a:avLst>
              <a:gd name="adj" fmla="val 16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868680" y="192024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26" descr="icons/vi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321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6"/>
          <p:cNvSpPr/>
          <p:nvPr/>
        </p:nvSpPr>
        <p:spPr>
          <a:xfrm>
            <a:off x="1600200" y="201168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700"/>
              <a:buFont typeface="Calibri"/>
              <a:buNone/>
            </a:pPr>
            <a:r>
              <a:rPr lang="es-CO" sz="17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Caja blanca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868680" y="2514600"/>
            <a:ext cx="4572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00"/>
              <a:buFont typeface="Calibri"/>
              <a:buNone/>
            </a:pP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Se valida la lógica interna de los DAOs del backend (paquete pruebas).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868680" y="31089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PU-1  Registro de usuarios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868680" y="3547872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PU-2  Autenticación de usuarios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868680" y="3986784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PU-3  Gestión de perritos y gatitos (CRUD)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868680" y="4425696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PU-4  Gestión de reservas y disponibilidad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868680" y="486460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PU-5  Gestión de entrevistas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5943600" y="1645920"/>
            <a:ext cx="5696700" cy="4480500"/>
          </a:xfrm>
          <a:prstGeom prst="roundRect">
            <a:avLst>
              <a:gd name="adj" fmla="val 1633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6263640" y="1920240"/>
            <a:ext cx="594300" cy="5943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6" name="Google Shape;476;p26" descr="icons/chec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817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6"/>
          <p:cNvSpPr/>
          <p:nvPr/>
        </p:nvSpPr>
        <p:spPr>
          <a:xfrm>
            <a:off x="6995160" y="201168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s-CO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Caja negra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6263640" y="2514600"/>
            <a:ext cx="5120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200"/>
              <a:buFont typeface="Calibri"/>
              <a:buNone/>
            </a:pPr>
            <a:r>
              <a:rPr lang="es-CO" sz="120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Se navega el sistema como lo haría un usuario real (Selenium + TestNG, proyecto soulpawpruebas), verificando cada requisito funcional (REQ) sin mirar el código.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6263640" y="338328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6263640" y="3822192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Búsqueda y filtros del catálogo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6263640" y="4261104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Solicitud de adopción y reservas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6263640" y="5138928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Panel administrativo (perritos, entrevistas, horarios)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Conclusiones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6096000" y="3383280"/>
            <a:ext cx="514350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9" name="Google Shape;489;p27"/>
          <p:cNvSpPr/>
          <p:nvPr/>
        </p:nvSpPr>
        <p:spPr>
          <a:xfrm>
            <a:off x="627888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27" descr="icons/che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41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7"/>
          <p:cNvSpPr/>
          <p:nvPr/>
        </p:nvSpPr>
        <p:spPr>
          <a:xfrm>
            <a:off x="705612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de animales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705612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B6670"/>
              </a:buClr>
              <a:buSzPts val="1100"/>
            </a:pPr>
            <a:r>
              <a:rPr lang="es-ES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Tiene la capacidad de hacer CRUD y visualización de estados de perritos y gatitos</a:t>
            </a:r>
            <a:endParaRPr lang="es-ES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548640" y="1698916"/>
            <a:ext cx="1069086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731520" y="2110396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27" descr="icons/lea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6054" y="226493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/>
          <p:nvPr/>
        </p:nvSpPr>
        <p:spPr>
          <a:xfrm>
            <a:off x="1508760" y="1863508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Creación de aplicación web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1508760" y="2201836"/>
            <a:ext cx="959346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 crea exitosamente una aplicación para reducir el </a:t>
            </a:r>
            <a:r>
              <a:rPr lang="es-CO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abandono </a:t>
            </a: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animal, el sistema promueve </a:t>
            </a:r>
            <a:r>
              <a:rPr lang="es-CO" b="0" i="0" u="none" strike="noStrike" cap="none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la adopción responsable</a:t>
            </a: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b="0" i="0" u="none" strike="noStrike" cap="none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y la reinserción de animales rescatados en hogares seguros.</a:t>
            </a:r>
            <a:endParaRPr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48640" y="3383280"/>
            <a:ext cx="514350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73152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0" name="Google Shape;500;p27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605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7"/>
          <p:cNvSpPr/>
          <p:nvPr/>
        </p:nvSpPr>
        <p:spPr>
          <a:xfrm>
            <a:off x="150876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Experiencia de usuario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150876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Interfaz intuitiva, adaptable y validada con usuarios reales.</a:t>
            </a:r>
            <a:endParaRPr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548640" y="5257800"/>
            <a:ext cx="10607100" cy="9144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822960" y="5257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Trabajo futuro:  </a:t>
            </a: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sistema de calificación de adoptantes, pasarela de pago real y soporte multi-fundación.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1082</Words>
  <Application>Microsoft Office PowerPoint</Application>
  <PresentationFormat>Panorámica</PresentationFormat>
  <Paragraphs>188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Cambria</vt:lpstr>
      <vt:lpstr>Arial</vt:lpstr>
      <vt:lpstr>Work Sans SemiBold</vt:lpstr>
      <vt:lpstr>Work Sans</vt:lpstr>
      <vt:lpstr>Calibri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Miguel Angel Caceres Galvez</cp:lastModifiedBy>
  <cp:revision>7</cp:revision>
  <dcterms:modified xsi:type="dcterms:W3CDTF">2026-07-07T00:05:39Z</dcterms:modified>
</cp:coreProperties>
</file>